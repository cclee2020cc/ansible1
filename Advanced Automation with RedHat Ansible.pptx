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</p:sldIdLst>
  <p:sldSz cy="6858000" cx="12192000"/>
  <p:notesSz cx="6858000" cy="9144000"/>
  <p:embeddedFontLst>
    <p:embeddedFont>
      <p:font typeface="Play"/>
      <p:regular r:id="rId69"/>
      <p:bold r:id="rId70"/>
    </p:embeddedFont>
    <p:embeddedFont>
      <p:font typeface="Roboto"/>
      <p:regular r:id="rId71"/>
      <p:bold r:id="rId72"/>
      <p:italic r:id="rId73"/>
      <p:boldItalic r:id="rId74"/>
    </p:embeddedFont>
    <p:embeddedFont>
      <p:font typeface="Montserrat"/>
      <p:regular r:id="rId75"/>
      <p:bold r:id="rId76"/>
      <p:italic r:id="rId77"/>
      <p:boldItalic r:id="rId78"/>
    </p:embeddedFont>
    <p:embeddedFont>
      <p:font typeface="Source Code Pro"/>
      <p:regular r:id="rId79"/>
      <p:bold r:id="rId80"/>
      <p:italic r:id="rId81"/>
      <p:boldItalic r:id="rId8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3" roundtripDataSignature="AMtx7miZjaB1HUnsibxUeoXSy1Hbye4h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9AF533-5414-4BF9-8686-32D7A405D79A}">
  <a:tblStyle styleId="{669AF533-5414-4BF9-8686-32D7A405D79A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3" Type="http://customschemas.google.com/relationships/presentationmetadata" Target="metadata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font" Target="fonts/SourceCodePro-bold.fntdata"/><Relationship Id="rId82" Type="http://schemas.openxmlformats.org/officeDocument/2006/relationships/font" Target="fonts/SourceCodePro-boldItalic.fntdata"/><Relationship Id="rId81" Type="http://schemas.openxmlformats.org/officeDocument/2006/relationships/font" Target="fonts/SourceCodePr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Roboto-italic.fntdata"/><Relationship Id="rId72" Type="http://schemas.openxmlformats.org/officeDocument/2006/relationships/font" Target="fonts/Roboto-bold.fntdata"/><Relationship Id="rId31" Type="http://schemas.openxmlformats.org/officeDocument/2006/relationships/slide" Target="slides/slide26.xml"/><Relationship Id="rId75" Type="http://schemas.openxmlformats.org/officeDocument/2006/relationships/font" Target="fonts/Montserrat-regular.fntdata"/><Relationship Id="rId30" Type="http://schemas.openxmlformats.org/officeDocument/2006/relationships/slide" Target="slides/slide25.xml"/><Relationship Id="rId74" Type="http://schemas.openxmlformats.org/officeDocument/2006/relationships/font" Target="fonts/Roboto-boldItalic.fntdata"/><Relationship Id="rId33" Type="http://schemas.openxmlformats.org/officeDocument/2006/relationships/slide" Target="slides/slide28.xml"/><Relationship Id="rId77" Type="http://schemas.openxmlformats.org/officeDocument/2006/relationships/font" Target="fonts/Montserrat-italic.fntdata"/><Relationship Id="rId32" Type="http://schemas.openxmlformats.org/officeDocument/2006/relationships/slide" Target="slides/slide27.xml"/><Relationship Id="rId76" Type="http://schemas.openxmlformats.org/officeDocument/2006/relationships/font" Target="fonts/Montserrat-bold.fntdata"/><Relationship Id="rId35" Type="http://schemas.openxmlformats.org/officeDocument/2006/relationships/slide" Target="slides/slide30.xml"/><Relationship Id="rId79" Type="http://schemas.openxmlformats.org/officeDocument/2006/relationships/font" Target="fonts/SourceCodePro-regular.fntdata"/><Relationship Id="rId34" Type="http://schemas.openxmlformats.org/officeDocument/2006/relationships/slide" Target="slides/slide29.xml"/><Relationship Id="rId78" Type="http://schemas.openxmlformats.org/officeDocument/2006/relationships/font" Target="fonts/Montserrat-boldItalic.fntdata"/><Relationship Id="rId71" Type="http://schemas.openxmlformats.org/officeDocument/2006/relationships/font" Target="fonts/Roboto-regular.fntdata"/><Relationship Id="rId70" Type="http://schemas.openxmlformats.org/officeDocument/2006/relationships/font" Target="fonts/Play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Play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8" name="Google Shape;20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5" name="Google Shape;215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5" name="Google Shape;22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9" name="Google Shape;239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6" name="Google Shape;246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2" name="Google Shape;252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0" name="Google Shape;260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7" name="Google Shape;267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5" name="Google Shape;275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2" name="Google Shape;282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9" name="Google Shape;289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7" name="Google Shape;297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5" name="Google Shape;305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3" name="Google Shape;313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20" name="Google Shape;320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27" name="Google Shape;327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34" name="Google Shape;334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41" name="Google Shape;341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48" name="Google Shape;348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55" name="Google Shape;355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62" name="Google Shape;362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69" name="Google Shape;369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76" name="Google Shape;376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83" name="Google Shape;383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91" name="Google Shape;391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99" name="Google Shape;399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07" name="Google Shape;407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15" name="Google Shape;415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22" name="Google Shape;422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0" name="Google Shape;430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7" name="Google Shape;437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45" name="Google Shape;445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53" name="Google Shape;453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60" name="Google Shape;460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68" name="Google Shape;468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76" name="Google Shape;476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83" name="Google Shape;483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90" name="Google Shape;490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97" name="Google Shape;497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03" name="Google Shape;503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11" name="Google Shape;511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17" name="Google Shape;517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4" name="Google Shape;524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31" name="Google Shape;531;p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38" name="Google Shape;538;p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46" name="Google Shape;546;p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54" name="Google Shape;554;p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6"/>
          <p:cNvSpPr txBox="1"/>
          <p:nvPr>
            <p:ph type="title"/>
          </p:nvPr>
        </p:nvSpPr>
        <p:spPr>
          <a:xfrm>
            <a:off x="415600" y="390467"/>
            <a:ext cx="11360800" cy="10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Pla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/>
            </a:lvl9pPr>
          </a:lstStyle>
          <a:p/>
        </p:txBody>
      </p:sp>
      <p:sp>
        <p:nvSpPr>
          <p:cNvPr id="21" name="Google Shape;21;p66"/>
          <p:cNvSpPr txBox="1"/>
          <p:nvPr>
            <p:ph idx="1" type="body"/>
          </p:nvPr>
        </p:nvSpPr>
        <p:spPr>
          <a:xfrm>
            <a:off x="415600" y="1638233"/>
            <a:ext cx="5333200" cy="4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1867"/>
            </a:lvl1pPr>
            <a:lvl2pPr indent="-381000" lvl="1" marL="914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1600"/>
            </a:lvl2pPr>
            <a:lvl3pPr indent="-381000" lvl="2" marL="1371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1600"/>
            </a:lvl3pPr>
            <a:lvl4pPr indent="-381000" lvl="3" marL="1828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1600"/>
            </a:lvl4pPr>
            <a:lvl5pPr indent="-381000" lvl="4" marL="22860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1600"/>
            </a:lvl5pPr>
            <a:lvl6pPr indent="-381000" lvl="5" marL="27432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1600"/>
            </a:lvl6pPr>
            <a:lvl7pPr indent="-381000" lvl="6" marL="3200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1600"/>
            </a:lvl7pPr>
            <a:lvl8pPr indent="-381000" lvl="7" marL="3657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1600"/>
            </a:lvl8pPr>
            <a:lvl9pPr indent="-381000" lvl="8" marL="411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400"/>
              <a:buChar char="■"/>
              <a:defRPr sz="1600"/>
            </a:lvl9pPr>
          </a:lstStyle>
          <a:p/>
        </p:txBody>
      </p:sp>
      <p:sp>
        <p:nvSpPr>
          <p:cNvPr id="22" name="Google Shape;22;p66"/>
          <p:cNvSpPr txBox="1"/>
          <p:nvPr>
            <p:ph idx="2" type="body"/>
          </p:nvPr>
        </p:nvSpPr>
        <p:spPr>
          <a:xfrm>
            <a:off x="6443200" y="1638233"/>
            <a:ext cx="5333200" cy="4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1867"/>
            </a:lvl1pPr>
            <a:lvl2pPr indent="-381000" lvl="1" marL="914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1600"/>
            </a:lvl2pPr>
            <a:lvl3pPr indent="-381000" lvl="2" marL="1371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1600"/>
            </a:lvl3pPr>
            <a:lvl4pPr indent="-381000" lvl="3" marL="1828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1600"/>
            </a:lvl4pPr>
            <a:lvl5pPr indent="-381000" lvl="4" marL="22860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1600"/>
            </a:lvl5pPr>
            <a:lvl6pPr indent="-381000" lvl="5" marL="27432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1600"/>
            </a:lvl6pPr>
            <a:lvl7pPr indent="-381000" lvl="6" marL="3200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1600"/>
            </a:lvl7pPr>
            <a:lvl8pPr indent="-381000" lvl="7" marL="3657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1600"/>
            </a:lvl8pPr>
            <a:lvl9pPr indent="-381000" lvl="8" marL="411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400"/>
              <a:buChar char="■"/>
              <a:defRPr sz="1600"/>
            </a:lvl9pPr>
          </a:lstStyle>
          <a:p/>
        </p:txBody>
      </p:sp>
      <p:sp>
        <p:nvSpPr>
          <p:cNvPr id="23" name="Google Shape;23;p6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1333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1333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1333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1333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1333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1333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1333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1333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1333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9" name="Google Shape;39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7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7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7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7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7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7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7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7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/>
          <p:nvPr/>
        </p:nvSpPr>
        <p:spPr>
          <a:xfrm>
            <a:off x="7043559" y="0"/>
            <a:ext cx="6858000" cy="68580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7316003" y="272444"/>
            <a:ext cx="6313112" cy="6313112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9997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230883" y="190068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438073" y="2955024"/>
            <a:ext cx="6423000" cy="947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1717"/>
                </a:solidFill>
                <a:latin typeface="Montserrat"/>
                <a:ea typeface="Montserrat"/>
                <a:cs typeface="Montserrat"/>
                <a:sym typeface="Montserrat"/>
              </a:rPr>
              <a:t>Advanced Automation with RedHat Ansible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336267" y="368900"/>
            <a:ext cx="722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8400"/>
              <a:buFont typeface="Arial"/>
              <a:buNone/>
            </a:pPr>
            <a:r>
              <a:rPr lang="en-US" sz="3334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3334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336267" y="1456467"/>
            <a:ext cx="11103200" cy="4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000" u="sng">
                <a:solidFill>
                  <a:srgbClr val="000000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AM (9:30am-12:30pm)</a:t>
            </a:r>
            <a:endParaRPr sz="2000" u="sng">
              <a:solidFill>
                <a:srgbClr val="000000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434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AutoNum type="arabicPeriod"/>
            </a:pPr>
            <a:r>
              <a:rPr lang="en-US" sz="2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Overview of OpenShift &amp; Ansible</a:t>
            </a:r>
            <a:endParaRPr/>
          </a:p>
          <a:p>
            <a:pPr indent="-434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Arial"/>
              <a:buAutoNum type="arabicPeriod"/>
            </a:pPr>
            <a:r>
              <a:rPr lang="en-US" sz="2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Ansible Fundamentals</a:t>
            </a:r>
            <a:endParaRPr/>
          </a:p>
          <a:p>
            <a:pPr indent="-434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Arial"/>
              <a:buAutoNum type="arabicPeriod"/>
            </a:pPr>
            <a:r>
              <a:rPr lang="en-US" sz="2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Exercise 1 – Ad-hoc</a:t>
            </a:r>
            <a:endParaRPr sz="2000">
              <a:solidFill>
                <a:srgbClr val="171717"/>
              </a:solidFill>
            </a:endParaRPr>
          </a:p>
          <a:p>
            <a:pPr indent="-434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Arial"/>
              <a:buAutoNum type="arabicPeriod"/>
            </a:pPr>
            <a:r>
              <a:rPr lang="en-US" sz="2000">
                <a:solidFill>
                  <a:srgbClr val="171717"/>
                </a:solidFill>
              </a:rPr>
              <a:t>Exercise 2 – Ad-hoc</a:t>
            </a:r>
            <a:endParaRPr sz="2000">
              <a:solidFill>
                <a:srgbClr val="171717"/>
              </a:solidFill>
            </a:endParaRPr>
          </a:p>
          <a:p>
            <a:pPr indent="-434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000"/>
              <a:buFont typeface="Arial"/>
              <a:buAutoNum type="arabicPeriod"/>
            </a:pPr>
            <a:r>
              <a:rPr lang="en-US" sz="2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Lunch (1 hour)</a:t>
            </a:r>
            <a:endParaRPr sz="2000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336267" y="368900"/>
            <a:ext cx="72256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8400"/>
              <a:buFont typeface="Arial"/>
              <a:buNone/>
            </a:pPr>
            <a:r>
              <a:rPr lang="en-US" sz="3334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3334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336267" y="1456467"/>
            <a:ext cx="11103200" cy="4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000" u="sng">
                <a:solidFill>
                  <a:srgbClr val="000000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PM (1:30pm-5:30pm)</a:t>
            </a:r>
            <a:endParaRPr sz="2000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800"/>
              <a:buFont typeface="Play"/>
              <a:buAutoNum type="arabicPeriod" startAt="5"/>
            </a:pPr>
            <a:r>
              <a:rPr lang="en-US" sz="2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Playbook Basics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800"/>
              <a:buFont typeface="Play"/>
              <a:buAutoNum type="arabicPeriod" startAt="5"/>
            </a:pPr>
            <a:r>
              <a:rPr lang="en-US" sz="2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Exercise 3 - Playbook basic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800"/>
              <a:buFont typeface="Play"/>
              <a:buAutoNum type="arabicPeriod" startAt="5"/>
            </a:pPr>
            <a:r>
              <a:rPr lang="en-US" sz="2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Playbook Variables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800"/>
              <a:buFont typeface="Play"/>
              <a:buAutoNum type="arabicPeriod" startAt="5"/>
            </a:pPr>
            <a:r>
              <a:rPr lang="en-US" sz="2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Scaling Automation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800"/>
              <a:buFont typeface="Play"/>
              <a:buAutoNum type="arabicPeriod" startAt="5"/>
            </a:pPr>
            <a:r>
              <a:rPr lang="en-US" sz="2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Debugging &amp; Performance Tuning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800"/>
              <a:buFont typeface="Play"/>
              <a:buAutoNum type="arabicPeriod" startAt="5"/>
            </a:pPr>
            <a:r>
              <a:rPr lang="en-US" sz="2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Exercise 4 - Ansible Playbook</a:t>
            </a:r>
            <a:endParaRPr sz="2000">
              <a:solidFill>
                <a:srgbClr val="171717"/>
              </a:solidFill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800"/>
              <a:buFont typeface="Play"/>
              <a:buAutoNum type="arabicPeriod" startAt="5"/>
            </a:pPr>
            <a:r>
              <a:rPr lang="en-US" sz="2000">
                <a:solidFill>
                  <a:srgbClr val="171717"/>
                </a:solidFill>
              </a:rPr>
              <a:t>Exercise 5 - Advanced Ansible</a:t>
            </a:r>
            <a:endParaRPr sz="2000">
              <a:solidFill>
                <a:srgbClr val="17171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/>
        </p:nvSpPr>
        <p:spPr>
          <a:xfrm>
            <a:off x="1661700" y="2628652"/>
            <a:ext cx="8868600" cy="1625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Session 1: 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Overview of OpenShift &amp; Ansible</a:t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" y="0"/>
            <a:ext cx="4043511" cy="2585208"/>
          </a:xfrm>
          <a:custGeom>
            <a:rect b="b" l="l" r="r" t="t"/>
            <a:pathLst>
              <a:path extrusionOk="0" h="2585208" w="4043511">
                <a:moveTo>
                  <a:pt x="0" y="0"/>
                </a:moveTo>
                <a:lnTo>
                  <a:pt x="4037771" y="0"/>
                </a:lnTo>
                <a:lnTo>
                  <a:pt x="4043511" y="113678"/>
                </a:lnTo>
                <a:cubicBezTo>
                  <a:pt x="4043511" y="1478666"/>
                  <a:pt x="2936969" y="2585208"/>
                  <a:pt x="1571981" y="2585208"/>
                </a:cubicBezTo>
                <a:cubicBezTo>
                  <a:pt x="1060111" y="2585208"/>
                  <a:pt x="584584" y="2429601"/>
                  <a:pt x="190125" y="2163110"/>
                </a:cubicBezTo>
                <a:lnTo>
                  <a:pt x="0" y="2020937"/>
                </a:ln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1482486" y="4753172"/>
            <a:ext cx="709513" cy="1419029"/>
          </a:xfrm>
          <a:custGeom>
            <a:rect b="b" l="l" r="r" t="t"/>
            <a:pathLst>
              <a:path extrusionOk="0" h="1419029" w="709513">
                <a:moveTo>
                  <a:pt x="709513" y="0"/>
                </a:moveTo>
                <a:lnTo>
                  <a:pt x="709513" y="1419029"/>
                </a:lnTo>
                <a:lnTo>
                  <a:pt x="566522" y="1404614"/>
                </a:lnTo>
                <a:cubicBezTo>
                  <a:pt x="243208" y="1338455"/>
                  <a:pt x="0" y="1052387"/>
                  <a:pt x="0" y="709515"/>
                </a:cubicBezTo>
                <a:cubicBezTo>
                  <a:pt x="0" y="366643"/>
                  <a:pt x="243208" y="80575"/>
                  <a:pt x="566522" y="14415"/>
                </a:cubicBez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581891" y="1540815"/>
            <a:ext cx="7350826" cy="4471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OpenShift is an enterprise container platform built on top of Kubernetes.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provides: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Container orchestration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Automated application deployment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Scaling &amp; self-healing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Built-in security controls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Hybrid &amp; multi-cloud support</a:t>
            </a:r>
            <a:endParaRPr/>
          </a:p>
        </p:txBody>
      </p:sp>
      <p:sp>
        <p:nvSpPr>
          <p:cNvPr id="125" name="Google Shape;125;p5"/>
          <p:cNvSpPr txBox="1"/>
          <p:nvPr/>
        </p:nvSpPr>
        <p:spPr>
          <a:xfrm>
            <a:off x="581906" y="771375"/>
            <a:ext cx="751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OpenShift?</a:t>
            </a:r>
            <a:endParaRPr/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92358" y="1710176"/>
            <a:ext cx="3213842" cy="3437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581904" y="771375"/>
            <a:ext cx="8333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Kubernetes vs. OpenShift</a:t>
            </a:r>
            <a:endParaRPr/>
          </a:p>
        </p:txBody>
      </p:sp>
      <p:sp>
        <p:nvSpPr>
          <p:cNvPr id="133" name="Google Shape;133;p6"/>
          <p:cNvSpPr txBox="1"/>
          <p:nvPr/>
        </p:nvSpPr>
        <p:spPr>
          <a:xfrm>
            <a:off x="581891" y="1540815"/>
            <a:ext cx="5118265" cy="2809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Kubernetes provides: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Container scheduling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Service networking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Scaling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Self-healing</a:t>
            </a:r>
            <a:endParaRPr/>
          </a:p>
        </p:txBody>
      </p:sp>
      <p:sp>
        <p:nvSpPr>
          <p:cNvPr id="134" name="Google Shape;134;p6"/>
          <p:cNvSpPr txBox="1"/>
          <p:nvPr/>
        </p:nvSpPr>
        <p:spPr>
          <a:xfrm>
            <a:off x="6096000" y="1479260"/>
            <a:ext cx="5514109" cy="3917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OpenShift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management console (GUI)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Integrated container registry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Built-in CI/CD pipelines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Stronger security defaults (restricted containers)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Enterprise support from Red Hat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581891" y="1540815"/>
            <a:ext cx="7468260" cy="4471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Ansible is an agentless IT automation platform used for: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Configuration management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deployment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Infrastructure provisioning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Orchestration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need Ansible to automate repetitive infrastructure tasks across many machines in a consistent and reliable way.</a:t>
            </a:r>
            <a:endParaRPr/>
          </a:p>
        </p:txBody>
      </p:sp>
      <p:sp>
        <p:nvSpPr>
          <p:cNvPr id="141" name="Google Shape;141;p7"/>
          <p:cNvSpPr txBox="1"/>
          <p:nvPr/>
        </p:nvSpPr>
        <p:spPr>
          <a:xfrm>
            <a:off x="581906" y="771375"/>
            <a:ext cx="6292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Ansible?</a:t>
            </a:r>
            <a:endParaRPr/>
          </a:p>
        </p:txBody>
      </p:sp>
      <p:pic>
        <p:nvPicPr>
          <p:cNvPr id="142" name="Google Shape;14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0151" y="1649021"/>
            <a:ext cx="3559958" cy="355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581902" y="771375"/>
            <a:ext cx="6612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OpenShift with Ansible</a:t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581891" y="1540815"/>
            <a:ext cx="6911439" cy="22550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Ansible provisions OpenShift clusters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Ansible deploys applications into OpenShift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Ansible manages configuration &amp; updates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together in DevOps pipelines</a:t>
            </a:r>
            <a:endParaRPr/>
          </a:p>
        </p:txBody>
      </p:sp>
      <p:pic>
        <p:nvPicPr>
          <p:cNvPr id="150" name="Google Shape;15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3230" y="2858830"/>
            <a:ext cx="8127779" cy="3830215"/>
          </a:xfrm>
          <a:custGeom>
            <a:rect b="b" l="l" r="r" t="t"/>
            <a:pathLst>
              <a:path extrusionOk="0" h="3662743" w="7772400">
                <a:moveTo>
                  <a:pt x="3112216" y="0"/>
                </a:moveTo>
                <a:lnTo>
                  <a:pt x="7772400" y="0"/>
                </a:lnTo>
                <a:lnTo>
                  <a:pt x="7772400" y="3662743"/>
                </a:lnTo>
                <a:lnTo>
                  <a:pt x="0" y="3662743"/>
                </a:lnTo>
                <a:lnTo>
                  <a:pt x="0" y="1007950"/>
                </a:lnTo>
                <a:lnTo>
                  <a:pt x="3112216" y="1007950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581905" y="771375"/>
            <a:ext cx="8307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the Environment</a:t>
            </a:r>
            <a:endParaRPr/>
          </a:p>
        </p:txBody>
      </p:sp>
      <p:sp>
        <p:nvSpPr>
          <p:cNvPr id="157" name="Google Shape;157;p9"/>
          <p:cNvSpPr txBox="1"/>
          <p:nvPr/>
        </p:nvSpPr>
        <p:spPr>
          <a:xfrm>
            <a:off x="581891" y="1540815"/>
            <a:ext cx="6911439" cy="4193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Login to your host host via SSH: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ssh &lt;login name&gt;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Ansible has been installed correctly: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ansible --version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should see something like: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ansible [core 2.17.14]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/>
        </p:nvSpPr>
        <p:spPr>
          <a:xfrm>
            <a:off x="1661700" y="2628652"/>
            <a:ext cx="8868600" cy="1625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Session 2: 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Ansible Fundamentals</a:t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1" y="0"/>
            <a:ext cx="4043511" cy="2585208"/>
          </a:xfrm>
          <a:custGeom>
            <a:rect b="b" l="l" r="r" t="t"/>
            <a:pathLst>
              <a:path extrusionOk="0" h="2585208" w="4043511">
                <a:moveTo>
                  <a:pt x="0" y="0"/>
                </a:moveTo>
                <a:lnTo>
                  <a:pt x="4037771" y="0"/>
                </a:lnTo>
                <a:lnTo>
                  <a:pt x="4043511" y="113678"/>
                </a:lnTo>
                <a:cubicBezTo>
                  <a:pt x="4043511" y="1478666"/>
                  <a:pt x="2936969" y="2585208"/>
                  <a:pt x="1571981" y="2585208"/>
                </a:cubicBezTo>
                <a:cubicBezTo>
                  <a:pt x="1060111" y="2585208"/>
                  <a:pt x="584584" y="2429601"/>
                  <a:pt x="190125" y="2163110"/>
                </a:cubicBezTo>
                <a:lnTo>
                  <a:pt x="0" y="2020937"/>
                </a:ln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11482486" y="4753172"/>
            <a:ext cx="709513" cy="1419029"/>
          </a:xfrm>
          <a:custGeom>
            <a:rect b="b" l="l" r="r" t="t"/>
            <a:pathLst>
              <a:path extrusionOk="0" h="1419029" w="709513">
                <a:moveTo>
                  <a:pt x="709513" y="0"/>
                </a:moveTo>
                <a:lnTo>
                  <a:pt x="709513" y="1419029"/>
                </a:lnTo>
                <a:lnTo>
                  <a:pt x="566522" y="1404614"/>
                </a:lnTo>
                <a:cubicBezTo>
                  <a:pt x="243208" y="1338455"/>
                  <a:pt x="0" y="1052387"/>
                  <a:pt x="0" y="709515"/>
                </a:cubicBezTo>
                <a:cubicBezTo>
                  <a:pt x="0" y="366643"/>
                  <a:pt x="243208" y="80575"/>
                  <a:pt x="566522" y="14415"/>
                </a:cubicBez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581891" y="1540815"/>
            <a:ext cx="7327075" cy="5025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Node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Machine where Ansible is installed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Executes automation tasks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Managed Nodes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systems being automated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agent required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Communicate via SSH (Linux) or WinRM (Windows)</a:t>
            </a:r>
            <a:endParaRPr/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581908" y="771375"/>
            <a:ext cx="8203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Components</a:t>
            </a:r>
            <a:endParaRPr/>
          </a:p>
        </p:txBody>
      </p:sp>
      <p:pic>
        <p:nvPicPr>
          <p:cNvPr id="173" name="Google Shape;17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0151" y="1649021"/>
            <a:ext cx="3559958" cy="355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 txBox="1"/>
          <p:nvPr/>
        </p:nvSpPr>
        <p:spPr>
          <a:xfrm>
            <a:off x="581891" y="1540815"/>
            <a:ext cx="7327075" cy="2809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Inventory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Inventory defines which machines Ansible manages. There are two types: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inventory (INI or YAML files)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inventory (cloud plugins)</a:t>
            </a:r>
            <a:endParaRPr/>
          </a:p>
        </p:txBody>
      </p:sp>
      <p:sp>
        <p:nvSpPr>
          <p:cNvPr id="180" name="Google Shape;180;p12"/>
          <p:cNvSpPr txBox="1"/>
          <p:nvPr/>
        </p:nvSpPr>
        <p:spPr>
          <a:xfrm>
            <a:off x="581905" y="771375"/>
            <a:ext cx="6707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Components</a:t>
            </a:r>
            <a:endParaRPr/>
          </a:p>
        </p:txBody>
      </p:sp>
      <p:pic>
        <p:nvPicPr>
          <p:cNvPr descr="Defining the Inventory | 0xBEN | Notes" id="181" name="Google Shape;18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5782" y="2645497"/>
            <a:ext cx="6275228" cy="404354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2"/>
          <p:cNvSpPr/>
          <p:nvPr/>
        </p:nvSpPr>
        <p:spPr>
          <a:xfrm>
            <a:off x="10165278" y="2434442"/>
            <a:ext cx="1935678" cy="4254603"/>
          </a:xfrm>
          <a:prstGeom prst="rect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10438664" y="2038281"/>
            <a:ext cx="15079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Inventory List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 txBox="1"/>
          <p:nvPr/>
        </p:nvSpPr>
        <p:spPr>
          <a:xfrm>
            <a:off x="581891" y="1540815"/>
            <a:ext cx="5331141" cy="4471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reusable units of work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 idempotency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package: install software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service: manage services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copy: copy files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template: deploy configuration files</a:t>
            </a:r>
            <a:endParaRPr/>
          </a:p>
        </p:txBody>
      </p:sp>
      <p:sp>
        <p:nvSpPr>
          <p:cNvPr id="190" name="Google Shape;190;p13"/>
          <p:cNvSpPr txBox="1"/>
          <p:nvPr/>
        </p:nvSpPr>
        <p:spPr>
          <a:xfrm>
            <a:off x="581906" y="797325"/>
            <a:ext cx="7235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Components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4"/>
          <p:cNvSpPr txBox="1"/>
          <p:nvPr/>
        </p:nvSpPr>
        <p:spPr>
          <a:xfrm>
            <a:off x="581892" y="1540815"/>
            <a:ext cx="11091552" cy="5025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Idempotency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Running the same playbook multiple times produces the same final result without causing unintended changes.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important?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Safe re-runs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Infrastructure drift correction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CI/CD compatibility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581903" y="771375"/>
            <a:ext cx="5540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Components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5"/>
          <p:cNvSpPr txBox="1"/>
          <p:nvPr/>
        </p:nvSpPr>
        <p:spPr>
          <a:xfrm>
            <a:off x="581891" y="1540815"/>
            <a:ext cx="5331141" cy="3917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Playbooks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Playbooks are YAML files that define automation. It defines: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hosts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Desired state</a:t>
            </a:r>
            <a:endParaRPr/>
          </a:p>
        </p:txBody>
      </p:sp>
      <p:sp>
        <p:nvSpPr>
          <p:cNvPr id="204" name="Google Shape;204;p15"/>
          <p:cNvSpPr txBox="1"/>
          <p:nvPr/>
        </p:nvSpPr>
        <p:spPr>
          <a:xfrm>
            <a:off x="581906" y="771375"/>
            <a:ext cx="7269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Components</a:t>
            </a:r>
            <a:endParaRPr/>
          </a:p>
        </p:txBody>
      </p:sp>
      <p:sp>
        <p:nvSpPr>
          <p:cNvPr id="205" name="Google Shape;205;p15"/>
          <p:cNvSpPr txBox="1"/>
          <p:nvPr/>
        </p:nvSpPr>
        <p:spPr>
          <a:xfrm>
            <a:off x="6934201" y="2226195"/>
            <a:ext cx="4453246" cy="2616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hosts: web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tasks: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- name: Install nginx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package: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name: nginx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state: present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6"/>
          <p:cNvSpPr txBox="1"/>
          <p:nvPr/>
        </p:nvSpPr>
        <p:spPr>
          <a:xfrm>
            <a:off x="581891" y="1540815"/>
            <a:ext cx="10984675" cy="3270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Ad-hoc commands are one-time, quick commands you run directly from the terminal — without writing a playbook. They are used for simple, immediate tasks. They follow the following pattern: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ansible &lt;hosts&gt; -m &lt;module&gt; -a "&lt;arguments&gt;"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-m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-a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argument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581906" y="771375"/>
            <a:ext cx="731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Ad-Hoc commands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>
            <a:off x="581891" y="1540815"/>
            <a:ext cx="10984675" cy="2809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Inventory query does NOT run any task. It simply shows which hosts belong to the group. It can be used to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verify your inventory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if group name is correct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debug targeting before running real commands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581905" y="771375"/>
            <a:ext cx="5687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Inventory Query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581891" y="4449863"/>
            <a:ext cx="4871847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Inventory List: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web]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node1 ansible_host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192.168.55.201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node2 ansible_host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192.168.55.202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node3 ansible_host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192.168.55.203</a:t>
            </a:r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5537859" y="5235291"/>
            <a:ext cx="1116281" cy="36813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6738264" y="4449863"/>
            <a:ext cx="4185761" cy="1908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ansible web --list-hosts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Host (3):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node1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node2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node3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581891" y="1540815"/>
            <a:ext cx="10984675" cy="4286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Ansible comes with a lot of modules by default. To list all modules, run: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ansible-doc -l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find a module, run: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ansible-doc -l | grep -i &lt;keyword&gt;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get help for a specific module including usage examples: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ansible-doc &lt;module name&gt;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581905" y="771375"/>
            <a:ext cx="5747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Listing Modules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581891" y="1540815"/>
            <a:ext cx="10984675" cy="4840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>
                <a:solidFill>
                  <a:schemeClr val="dk1"/>
                </a:solidFill>
                <a:highlight>
                  <a:srgbClr val="C0C0C0"/>
                </a:highlight>
                <a:latin typeface="Arial"/>
                <a:ea typeface="Arial"/>
                <a:cs typeface="Arial"/>
                <a:sym typeface="Arial"/>
              </a:rPr>
              <a:t>command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module executes a Linux command on managed hosts. It does NOT use a shell (safer, more predictable). It follows the following pattern: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ansible &lt;host-pattern&gt; -m command -a "&lt;linux-command&gt;”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ansible localhost -m command -a "id"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shows uid, gid, groups and security context.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ansible all -m command -a "uname -r"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check Kernel Version on All Hosts. 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581903" y="771375"/>
            <a:ext cx="7667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Command Module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581891" y="1540815"/>
            <a:ext cx="10984675" cy="4286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>
                <a:solidFill>
                  <a:schemeClr val="dk1"/>
                </a:solidFill>
                <a:highlight>
                  <a:srgbClr val="C0C0C0"/>
                </a:highlight>
                <a:latin typeface="Arial"/>
                <a:ea typeface="Arial"/>
                <a:cs typeface="Arial"/>
                <a:sym typeface="Arial"/>
              </a:rPr>
              <a:t>copy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module executes an ad-hoc command on host to change the contents of the file in destination.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ansible localhost -m copy -a 'content="Managed by Ansible\n" dest=/tmp/testfile'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verify the changes by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ansible localhost -m command -a "cat /tmp/testfile"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581910" y="771375"/>
            <a:ext cx="9224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Copy Module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omputer screen shot of a computer code&#10;&#10;AI-generated content may be incorrect." id="249" name="Google Shape;24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756" y="1442522"/>
            <a:ext cx="11444488" cy="3972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 txBox="1"/>
          <p:nvPr/>
        </p:nvSpPr>
        <p:spPr>
          <a:xfrm>
            <a:off x="1661700" y="3028826"/>
            <a:ext cx="88686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Exercise #1 – Using Ad-hoc</a:t>
            </a:r>
            <a:endParaRPr sz="4400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1" y="0"/>
            <a:ext cx="4043511" cy="2585208"/>
          </a:xfrm>
          <a:custGeom>
            <a:rect b="b" l="l" r="r" t="t"/>
            <a:pathLst>
              <a:path extrusionOk="0" h="2585208" w="4043511">
                <a:moveTo>
                  <a:pt x="0" y="0"/>
                </a:moveTo>
                <a:lnTo>
                  <a:pt x="4037771" y="0"/>
                </a:lnTo>
                <a:lnTo>
                  <a:pt x="4043511" y="113678"/>
                </a:lnTo>
                <a:cubicBezTo>
                  <a:pt x="4043511" y="1478666"/>
                  <a:pt x="2936969" y="2585208"/>
                  <a:pt x="1571981" y="2585208"/>
                </a:cubicBezTo>
                <a:cubicBezTo>
                  <a:pt x="1060111" y="2585208"/>
                  <a:pt x="584584" y="2429601"/>
                  <a:pt x="190125" y="2163110"/>
                </a:cubicBezTo>
                <a:lnTo>
                  <a:pt x="0" y="2020937"/>
                </a:ln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11482486" y="4753172"/>
            <a:ext cx="709513" cy="1419029"/>
          </a:xfrm>
          <a:custGeom>
            <a:rect b="b" l="l" r="r" t="t"/>
            <a:pathLst>
              <a:path extrusionOk="0" h="1419029" w="709513">
                <a:moveTo>
                  <a:pt x="709513" y="0"/>
                </a:moveTo>
                <a:lnTo>
                  <a:pt x="709513" y="1419029"/>
                </a:lnTo>
                <a:lnTo>
                  <a:pt x="566522" y="1404614"/>
                </a:lnTo>
                <a:cubicBezTo>
                  <a:pt x="243208" y="1338455"/>
                  <a:pt x="0" y="1052387"/>
                  <a:pt x="0" y="709515"/>
                </a:cubicBezTo>
                <a:cubicBezTo>
                  <a:pt x="0" y="366643"/>
                  <a:pt x="243208" y="80575"/>
                  <a:pt x="566522" y="14415"/>
                </a:cubicBez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581891" y="1540815"/>
            <a:ext cx="10984675" cy="4471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ansible-doc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a module that uses Yum to manage software packages.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AutoNum type="arabicPeriod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up the help examples for the module to learn how to install a package in the latest version.</a:t>
            </a:r>
            <a:endParaRPr/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 an Ansible ad hoc command to install the package “squid” in the latest version on localhost.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581891" y="771374"/>
            <a:ext cx="882336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Exercise #1 – Using Ad-hoc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 txBox="1"/>
          <p:nvPr/>
        </p:nvSpPr>
        <p:spPr>
          <a:xfrm>
            <a:off x="1661700" y="3028826"/>
            <a:ext cx="88686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Exercise #2 – Using Ad-hoc</a:t>
            </a:r>
            <a:endParaRPr sz="4400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1" y="0"/>
            <a:ext cx="4043511" cy="2585208"/>
          </a:xfrm>
          <a:custGeom>
            <a:rect b="b" l="l" r="r" t="t"/>
            <a:pathLst>
              <a:path extrusionOk="0" h="2585208" w="4043511">
                <a:moveTo>
                  <a:pt x="0" y="0"/>
                </a:moveTo>
                <a:lnTo>
                  <a:pt x="4037771" y="0"/>
                </a:lnTo>
                <a:lnTo>
                  <a:pt x="4043511" y="113678"/>
                </a:lnTo>
                <a:cubicBezTo>
                  <a:pt x="4043511" y="1478666"/>
                  <a:pt x="2936969" y="2585208"/>
                  <a:pt x="1571981" y="2585208"/>
                </a:cubicBezTo>
                <a:cubicBezTo>
                  <a:pt x="1060111" y="2585208"/>
                  <a:pt x="584584" y="2429601"/>
                  <a:pt x="190125" y="2163110"/>
                </a:cubicBezTo>
                <a:lnTo>
                  <a:pt x="0" y="2020937"/>
                </a:ln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11482486" y="4753172"/>
            <a:ext cx="709513" cy="1419029"/>
          </a:xfrm>
          <a:custGeom>
            <a:rect b="b" l="l" r="r" t="t"/>
            <a:pathLst>
              <a:path extrusionOk="0" h="1419029" w="709513">
                <a:moveTo>
                  <a:pt x="709513" y="0"/>
                </a:moveTo>
                <a:lnTo>
                  <a:pt x="709513" y="1419029"/>
                </a:lnTo>
                <a:lnTo>
                  <a:pt x="566522" y="1404614"/>
                </a:lnTo>
                <a:cubicBezTo>
                  <a:pt x="243208" y="1338455"/>
                  <a:pt x="0" y="1052387"/>
                  <a:pt x="0" y="709515"/>
                </a:cubicBezTo>
                <a:cubicBezTo>
                  <a:pt x="0" y="366643"/>
                  <a:pt x="243208" y="80575"/>
                  <a:pt x="566522" y="14415"/>
                </a:cubicBez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 txBox="1"/>
          <p:nvPr/>
        </p:nvSpPr>
        <p:spPr>
          <a:xfrm>
            <a:off x="581891" y="1540815"/>
            <a:ext cx="10984675" cy="4471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Ansible ad-hoc commands only, perform the following on localhost: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Discover the correct package module for your OS (yum / dnf / apt).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Install a web server package (latest version) (httpd / apache2).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 the service is started and enabled at boot (use </a:t>
            </a:r>
            <a:r>
              <a:rPr lang="en-US" sz="2000">
                <a:solidFill>
                  <a:schemeClr val="dk1"/>
                </a:solidFill>
                <a:highlight>
                  <a:srgbClr val="C0C0C0"/>
                </a:highlight>
                <a:latin typeface="Arial"/>
                <a:ea typeface="Arial"/>
                <a:cs typeface="Arial"/>
                <a:sym typeface="Arial"/>
              </a:rPr>
              <a:t>service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command)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Hints: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ansible-doc -l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may need -c local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581891" y="771374"/>
            <a:ext cx="882336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Exercise #2 – Using Ad-hoc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6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 txBox="1"/>
          <p:nvPr/>
        </p:nvSpPr>
        <p:spPr>
          <a:xfrm>
            <a:off x="581891" y="1540815"/>
            <a:ext cx="10984675" cy="4471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setup: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Verify the service is running.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Re-run your commands.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first run shows CHANGED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second run shows SUCCESS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breaks if you remove -b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happens if you choose the wrong module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581891" y="771374"/>
            <a:ext cx="882336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Exercise #2 – Using Ad-hoc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7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7"/>
          <p:cNvSpPr/>
          <p:nvPr/>
        </p:nvSpPr>
        <p:spPr>
          <a:xfrm>
            <a:off x="1" y="0"/>
            <a:ext cx="4043511" cy="2585208"/>
          </a:xfrm>
          <a:custGeom>
            <a:rect b="b" l="l" r="r" t="t"/>
            <a:pathLst>
              <a:path extrusionOk="0" h="2585208" w="4043511">
                <a:moveTo>
                  <a:pt x="0" y="0"/>
                </a:moveTo>
                <a:lnTo>
                  <a:pt x="4037771" y="0"/>
                </a:lnTo>
                <a:lnTo>
                  <a:pt x="4043511" y="113678"/>
                </a:lnTo>
                <a:cubicBezTo>
                  <a:pt x="4043511" y="1478666"/>
                  <a:pt x="2936969" y="2585208"/>
                  <a:pt x="1571981" y="2585208"/>
                </a:cubicBezTo>
                <a:cubicBezTo>
                  <a:pt x="1060111" y="2585208"/>
                  <a:pt x="584584" y="2429601"/>
                  <a:pt x="190125" y="2163110"/>
                </a:cubicBezTo>
                <a:lnTo>
                  <a:pt x="0" y="2020937"/>
                </a:ln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11482486" y="4753172"/>
            <a:ext cx="709513" cy="1419029"/>
          </a:xfrm>
          <a:custGeom>
            <a:rect b="b" l="l" r="r" t="t"/>
            <a:pathLst>
              <a:path extrusionOk="0" h="1419029" w="709513">
                <a:moveTo>
                  <a:pt x="709513" y="0"/>
                </a:moveTo>
                <a:lnTo>
                  <a:pt x="709513" y="1419029"/>
                </a:lnTo>
                <a:lnTo>
                  <a:pt x="566522" y="1404614"/>
                </a:lnTo>
                <a:cubicBezTo>
                  <a:pt x="243208" y="1338455"/>
                  <a:pt x="0" y="1052387"/>
                  <a:pt x="0" y="709515"/>
                </a:cubicBezTo>
                <a:cubicBezTo>
                  <a:pt x="0" y="366643"/>
                  <a:pt x="243208" y="80575"/>
                  <a:pt x="566522" y="14415"/>
                </a:cubicBez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7"/>
          <p:cNvSpPr txBox="1"/>
          <p:nvPr/>
        </p:nvSpPr>
        <p:spPr>
          <a:xfrm>
            <a:off x="1661700" y="3022735"/>
            <a:ext cx="88686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Lunch time (1 hour)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8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8"/>
          <p:cNvSpPr/>
          <p:nvPr/>
        </p:nvSpPr>
        <p:spPr>
          <a:xfrm>
            <a:off x="1" y="0"/>
            <a:ext cx="4043511" cy="2585208"/>
          </a:xfrm>
          <a:custGeom>
            <a:rect b="b" l="l" r="r" t="t"/>
            <a:pathLst>
              <a:path extrusionOk="0" h="2585208" w="4043511">
                <a:moveTo>
                  <a:pt x="0" y="0"/>
                </a:moveTo>
                <a:lnTo>
                  <a:pt x="4037771" y="0"/>
                </a:lnTo>
                <a:lnTo>
                  <a:pt x="4043511" y="113678"/>
                </a:lnTo>
                <a:cubicBezTo>
                  <a:pt x="4043511" y="1478666"/>
                  <a:pt x="2936969" y="2585208"/>
                  <a:pt x="1571981" y="2585208"/>
                </a:cubicBezTo>
                <a:cubicBezTo>
                  <a:pt x="1060111" y="2585208"/>
                  <a:pt x="584584" y="2429601"/>
                  <a:pt x="190125" y="2163110"/>
                </a:cubicBezTo>
                <a:lnTo>
                  <a:pt x="0" y="2020937"/>
                </a:ln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8"/>
          <p:cNvSpPr/>
          <p:nvPr/>
        </p:nvSpPr>
        <p:spPr>
          <a:xfrm>
            <a:off x="11482486" y="4753172"/>
            <a:ext cx="709513" cy="1419029"/>
          </a:xfrm>
          <a:custGeom>
            <a:rect b="b" l="l" r="r" t="t"/>
            <a:pathLst>
              <a:path extrusionOk="0" h="1419029" w="709513">
                <a:moveTo>
                  <a:pt x="709513" y="0"/>
                </a:moveTo>
                <a:lnTo>
                  <a:pt x="709513" y="1419029"/>
                </a:lnTo>
                <a:lnTo>
                  <a:pt x="566522" y="1404614"/>
                </a:lnTo>
                <a:cubicBezTo>
                  <a:pt x="243208" y="1338455"/>
                  <a:pt x="0" y="1052387"/>
                  <a:pt x="0" y="709515"/>
                </a:cubicBezTo>
                <a:cubicBezTo>
                  <a:pt x="0" y="366643"/>
                  <a:pt x="243208" y="80575"/>
                  <a:pt x="566522" y="14415"/>
                </a:cubicBez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8"/>
          <p:cNvSpPr txBox="1"/>
          <p:nvPr/>
        </p:nvSpPr>
        <p:spPr>
          <a:xfrm>
            <a:off x="1661700" y="2616470"/>
            <a:ext cx="8868600" cy="14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Session </a:t>
            </a:r>
            <a:r>
              <a:rPr lang="en-US" sz="4400">
                <a:solidFill>
                  <a:srgbClr val="171717"/>
                </a:solidFill>
              </a:rPr>
              <a:t>3</a:t>
            </a:r>
            <a:r>
              <a:rPr lang="en-US" sz="4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Playbook Basics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9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9"/>
          <p:cNvSpPr txBox="1"/>
          <p:nvPr/>
        </p:nvSpPr>
        <p:spPr>
          <a:xfrm>
            <a:off x="538641" y="1584063"/>
            <a:ext cx="51894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Playbook in Ansible: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files written in YAML format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automation workflows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Describe the desired state of systems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Playbooks are declarative — they describe what should be, not how to do it.</a:t>
            </a:r>
            <a:endParaRPr/>
          </a:p>
        </p:txBody>
      </p:sp>
      <p:sp>
        <p:nvSpPr>
          <p:cNvPr id="309" name="Google Shape;309;p29"/>
          <p:cNvSpPr txBox="1"/>
          <p:nvPr/>
        </p:nvSpPr>
        <p:spPr>
          <a:xfrm>
            <a:off x="581904" y="771375"/>
            <a:ext cx="6526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a Playbook</a:t>
            </a:r>
            <a:endParaRPr/>
          </a:p>
        </p:txBody>
      </p:sp>
      <p:pic>
        <p:nvPicPr>
          <p:cNvPr id="310" name="Google Shape;31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1408" y="1891232"/>
            <a:ext cx="6151072" cy="3075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0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0"/>
          <p:cNvSpPr txBox="1"/>
          <p:nvPr/>
        </p:nvSpPr>
        <p:spPr>
          <a:xfrm>
            <a:off x="581891" y="1540815"/>
            <a:ext cx="10984675" cy="3917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Playbooks must: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with three dashes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proper indentation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spaces, not tabs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Maintain consistent structure</a:t>
            </a:r>
            <a:endParaRPr/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YAML is whitespace-sensitive — indentation errors cause failures.</a:t>
            </a:r>
            <a:endParaRPr/>
          </a:p>
        </p:txBody>
      </p:sp>
      <p:sp>
        <p:nvSpPr>
          <p:cNvPr id="317" name="Google Shape;317;p30"/>
          <p:cNvSpPr txBox="1"/>
          <p:nvPr/>
        </p:nvSpPr>
        <p:spPr>
          <a:xfrm>
            <a:off x="581902" y="771375"/>
            <a:ext cx="5825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YAML Requirements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1"/>
          <p:cNvSpPr txBox="1"/>
          <p:nvPr/>
        </p:nvSpPr>
        <p:spPr>
          <a:xfrm>
            <a:off x="581891" y="1540815"/>
            <a:ext cx="10984675" cy="5168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playbook is a list of plays. It has the following structure: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name: Play name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hosts: target_hosts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become: true/false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vars: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variable_name: value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tasks: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- name: Task name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module_name: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option1: value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option2: value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1"/>
          <p:cNvSpPr txBox="1"/>
          <p:nvPr/>
        </p:nvSpPr>
        <p:spPr>
          <a:xfrm>
            <a:off x="581902" y="771375"/>
            <a:ext cx="6828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Basic Playbook Structure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2"/>
          <p:cNvSpPr txBox="1"/>
          <p:nvPr/>
        </p:nvSpPr>
        <p:spPr>
          <a:xfrm>
            <a:off x="581891" y="1540815"/>
            <a:ext cx="10984675" cy="3917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hosts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machines to run tasks on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 of operations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 Ansible modules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desired state</a:t>
            </a:r>
            <a:endParaRPr/>
          </a:p>
        </p:txBody>
      </p:sp>
      <p:sp>
        <p:nvSpPr>
          <p:cNvPr id="331" name="Google Shape;331;p32"/>
          <p:cNvSpPr txBox="1"/>
          <p:nvPr/>
        </p:nvSpPr>
        <p:spPr>
          <a:xfrm>
            <a:off x="581903" y="771375"/>
            <a:ext cx="7927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Playbook Components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3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3"/>
          <p:cNvSpPr txBox="1"/>
          <p:nvPr/>
        </p:nvSpPr>
        <p:spPr>
          <a:xfrm>
            <a:off x="581891" y="1540815"/>
            <a:ext cx="10984675" cy="3917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become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Enables privilege escalation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using -b in ad hoc commands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for administrative tasks</a:t>
            </a:r>
            <a:endParaRPr/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gather_facts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 system info before running tasks (default true)</a:t>
            </a:r>
            <a:endParaRPr/>
          </a:p>
        </p:txBody>
      </p:sp>
      <p:sp>
        <p:nvSpPr>
          <p:cNvPr id="338" name="Google Shape;338;p33"/>
          <p:cNvSpPr txBox="1"/>
          <p:nvPr/>
        </p:nvSpPr>
        <p:spPr>
          <a:xfrm>
            <a:off x="581903" y="771375"/>
            <a:ext cx="8489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Playbook Components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4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4"/>
          <p:cNvSpPr txBox="1"/>
          <p:nvPr/>
        </p:nvSpPr>
        <p:spPr>
          <a:xfrm>
            <a:off x="581891" y="1540815"/>
            <a:ext cx="10984675" cy="4471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Ansible playbook, ordering is important. Automation is sequential and deterministic. Ansible executes: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Plays in order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Tasks in the order written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Incorrect ordering can cause: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Dependency failures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Service startup issues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Configuration errors</a:t>
            </a:r>
            <a:endParaRPr/>
          </a:p>
        </p:txBody>
      </p:sp>
      <p:sp>
        <p:nvSpPr>
          <p:cNvPr id="345" name="Google Shape;345;p34"/>
          <p:cNvSpPr txBox="1"/>
          <p:nvPr/>
        </p:nvSpPr>
        <p:spPr>
          <a:xfrm>
            <a:off x="581907" y="771375"/>
            <a:ext cx="6655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Execution Order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5"/>
          <p:cNvSpPr txBox="1"/>
          <p:nvPr/>
        </p:nvSpPr>
        <p:spPr>
          <a:xfrm>
            <a:off x="581891" y="1540815"/>
            <a:ext cx="10984675" cy="2809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good Playbook must be idempotent. If run once, hosts reach desired state. If run again, no further changes should occur. This ensures: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Safe re-execution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Predictable results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Production stability</a:t>
            </a:r>
            <a:endParaRPr/>
          </a:p>
        </p:txBody>
      </p:sp>
      <p:sp>
        <p:nvSpPr>
          <p:cNvPr id="352" name="Google Shape;352;p35"/>
          <p:cNvSpPr txBox="1"/>
          <p:nvPr/>
        </p:nvSpPr>
        <p:spPr>
          <a:xfrm>
            <a:off x="581891" y="771374"/>
            <a:ext cx="31015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Idempotency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6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6"/>
          <p:cNvSpPr txBox="1"/>
          <p:nvPr/>
        </p:nvSpPr>
        <p:spPr>
          <a:xfrm>
            <a:off x="581891" y="1540815"/>
            <a:ext cx="10984675" cy="22550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Ansible modules are already idempotent. They: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current system state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against desired state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Change only if necessary</a:t>
            </a:r>
            <a:endParaRPr/>
          </a:p>
        </p:txBody>
      </p:sp>
      <p:sp>
        <p:nvSpPr>
          <p:cNvPr id="359" name="Google Shape;359;p36"/>
          <p:cNvSpPr txBox="1"/>
          <p:nvPr/>
        </p:nvSpPr>
        <p:spPr>
          <a:xfrm>
            <a:off x="581891" y="771374"/>
            <a:ext cx="31015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Idempotency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7"/>
          <p:cNvSpPr txBox="1"/>
          <p:nvPr/>
        </p:nvSpPr>
        <p:spPr>
          <a:xfrm>
            <a:off x="581891" y="1540815"/>
            <a:ext cx="10984675" cy="4378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following minimal playbook will print the message “Hello World”.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hosts: localhost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gather_facts: false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tasks: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- name: Print Hello World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debug: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msg: "Hello, World!"</a:t>
            </a:r>
            <a:endParaRPr/>
          </a:p>
        </p:txBody>
      </p:sp>
      <p:sp>
        <p:nvSpPr>
          <p:cNvPr id="366" name="Google Shape;366;p37"/>
          <p:cNvSpPr txBox="1"/>
          <p:nvPr/>
        </p:nvSpPr>
        <p:spPr>
          <a:xfrm>
            <a:off x="581904" y="771375"/>
            <a:ext cx="6240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Playbook Example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8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8"/>
          <p:cNvSpPr txBox="1"/>
          <p:nvPr/>
        </p:nvSpPr>
        <p:spPr>
          <a:xfrm>
            <a:off x="581891" y="1540815"/>
            <a:ext cx="10984675" cy="3177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Ansible Playbooks are executed using the </a:t>
            </a:r>
            <a:r>
              <a:rPr lang="en-US" sz="2000">
                <a:solidFill>
                  <a:schemeClr val="dk1"/>
                </a:solidFill>
                <a:highlight>
                  <a:srgbClr val="C0C0C0"/>
                </a:highlight>
                <a:latin typeface="Arial"/>
                <a:ea typeface="Arial"/>
                <a:cs typeface="Arial"/>
                <a:sym typeface="Arial"/>
              </a:rPr>
              <a:t>ansible-playbook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command on the control node. You can check for syntax errors using: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ansible-playbook --syntax-check &lt;playbook file name&gt;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you should be ready to run your playbook: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ansible-playbook &lt;playbook file name&gt;</a:t>
            </a:r>
            <a:endParaRPr/>
          </a:p>
        </p:txBody>
      </p:sp>
      <p:sp>
        <p:nvSpPr>
          <p:cNvPr id="373" name="Google Shape;373;p38"/>
          <p:cNvSpPr txBox="1"/>
          <p:nvPr/>
        </p:nvSpPr>
        <p:spPr>
          <a:xfrm>
            <a:off x="581904" y="771375"/>
            <a:ext cx="5886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Running Playbook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9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9"/>
          <p:cNvSpPr txBox="1"/>
          <p:nvPr/>
        </p:nvSpPr>
        <p:spPr>
          <a:xfrm>
            <a:off x="581902" y="771375"/>
            <a:ext cx="6655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Playbook Example</a:t>
            </a:r>
            <a:endParaRPr/>
          </a:p>
        </p:txBody>
      </p:sp>
      <p:pic>
        <p:nvPicPr>
          <p:cNvPr descr="A screen shot of a computer&#10;&#10;AI-generated content may be incorrect." id="380" name="Google Shape;38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364" y="2232891"/>
            <a:ext cx="11121271" cy="2392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0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0"/>
          <p:cNvSpPr txBox="1"/>
          <p:nvPr/>
        </p:nvSpPr>
        <p:spPr>
          <a:xfrm>
            <a:off x="581891" y="1540815"/>
            <a:ext cx="4846451" cy="4471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playbook can contain multiple tasks. You can extend it by adding more tasks under the tasks section.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Ansible executes tasks from top to bottom, you should make sure that the tasks are written in correct order.</a:t>
            </a:r>
            <a:endParaRPr/>
          </a:p>
        </p:txBody>
      </p:sp>
      <p:sp>
        <p:nvSpPr>
          <p:cNvPr id="387" name="Google Shape;387;p40"/>
          <p:cNvSpPr txBox="1"/>
          <p:nvPr/>
        </p:nvSpPr>
        <p:spPr>
          <a:xfrm>
            <a:off x="581901" y="771375"/>
            <a:ext cx="5178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Playbook Extension</a:t>
            </a:r>
            <a:endParaRPr/>
          </a:p>
        </p:txBody>
      </p:sp>
      <p:sp>
        <p:nvSpPr>
          <p:cNvPr id="388" name="Google Shape;388;p40"/>
          <p:cNvSpPr txBox="1"/>
          <p:nvPr/>
        </p:nvSpPr>
        <p:spPr>
          <a:xfrm>
            <a:off x="5760851" y="676623"/>
            <a:ext cx="6096000" cy="6137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name: Simple Web Setup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hosts: localhost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become: true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tasks: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- name: Install nginx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package: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name: nginx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state: present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- name: Start nginx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service: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name: nginx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state: started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- name: Print completion message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debug: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msg: "Web server setup complete"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1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1"/>
          <p:cNvSpPr txBox="1"/>
          <p:nvPr/>
        </p:nvSpPr>
        <p:spPr>
          <a:xfrm>
            <a:off x="581891" y="1540815"/>
            <a:ext cx="4846451" cy="4475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Ansible, the same set of tasks can be applied reliably to many hosts.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Inventory List: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[web]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node1 ansible_host=192.168.55.201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node2 ansible_host=192.168.55.202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node3 ansible_host=192.168.55.203</a:t>
            </a:r>
            <a:endParaRPr/>
          </a:p>
        </p:txBody>
      </p:sp>
      <p:sp>
        <p:nvSpPr>
          <p:cNvPr id="395" name="Google Shape;395;p41"/>
          <p:cNvSpPr txBox="1"/>
          <p:nvPr/>
        </p:nvSpPr>
        <p:spPr>
          <a:xfrm>
            <a:off x="581891" y="771374"/>
            <a:ext cx="315041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Host</a:t>
            </a:r>
            <a:endParaRPr/>
          </a:p>
        </p:txBody>
      </p:sp>
      <p:sp>
        <p:nvSpPr>
          <p:cNvPr id="396" name="Google Shape;396;p41"/>
          <p:cNvSpPr txBox="1"/>
          <p:nvPr/>
        </p:nvSpPr>
        <p:spPr>
          <a:xfrm>
            <a:off x="5760851" y="676623"/>
            <a:ext cx="6096000" cy="6137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name: Simple Web Setup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hosts: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web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become: true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tasks: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- name: Install nginx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package: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name: nginx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state: present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- name: Start nginx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service: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name: nginx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state: started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- name: Print completion message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debug: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msg: "Web server setup complete"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"/>
          <p:cNvSpPr txBox="1"/>
          <p:nvPr/>
        </p:nvSpPr>
        <p:spPr>
          <a:xfrm>
            <a:off x="1661700" y="3028826"/>
            <a:ext cx="88686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Exercise #3 – Playbook Basics</a:t>
            </a:r>
            <a:endParaRPr/>
          </a:p>
        </p:txBody>
      </p:sp>
      <p:sp>
        <p:nvSpPr>
          <p:cNvPr id="402" name="Google Shape;402;p42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2"/>
          <p:cNvSpPr/>
          <p:nvPr/>
        </p:nvSpPr>
        <p:spPr>
          <a:xfrm>
            <a:off x="1" y="0"/>
            <a:ext cx="4043511" cy="2585208"/>
          </a:xfrm>
          <a:custGeom>
            <a:rect b="b" l="l" r="r" t="t"/>
            <a:pathLst>
              <a:path extrusionOk="0" h="2585208" w="4043511">
                <a:moveTo>
                  <a:pt x="0" y="0"/>
                </a:moveTo>
                <a:lnTo>
                  <a:pt x="4037771" y="0"/>
                </a:lnTo>
                <a:lnTo>
                  <a:pt x="4043511" y="113678"/>
                </a:lnTo>
                <a:cubicBezTo>
                  <a:pt x="4043511" y="1478666"/>
                  <a:pt x="2936969" y="2585208"/>
                  <a:pt x="1571981" y="2585208"/>
                </a:cubicBezTo>
                <a:cubicBezTo>
                  <a:pt x="1060111" y="2585208"/>
                  <a:pt x="584584" y="2429601"/>
                  <a:pt x="190125" y="2163110"/>
                </a:cubicBezTo>
                <a:lnTo>
                  <a:pt x="0" y="2020937"/>
                </a:ln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2"/>
          <p:cNvSpPr/>
          <p:nvPr/>
        </p:nvSpPr>
        <p:spPr>
          <a:xfrm>
            <a:off x="11482486" y="4753172"/>
            <a:ext cx="709513" cy="1419029"/>
          </a:xfrm>
          <a:custGeom>
            <a:rect b="b" l="l" r="r" t="t"/>
            <a:pathLst>
              <a:path extrusionOk="0" h="1419029" w="709513">
                <a:moveTo>
                  <a:pt x="709513" y="0"/>
                </a:moveTo>
                <a:lnTo>
                  <a:pt x="709513" y="1419029"/>
                </a:lnTo>
                <a:lnTo>
                  <a:pt x="566522" y="1404614"/>
                </a:lnTo>
                <a:cubicBezTo>
                  <a:pt x="243208" y="1338455"/>
                  <a:pt x="0" y="1052387"/>
                  <a:pt x="0" y="709515"/>
                </a:cubicBezTo>
                <a:cubicBezTo>
                  <a:pt x="0" y="366643"/>
                  <a:pt x="243208" y="80575"/>
                  <a:pt x="566522" y="14415"/>
                </a:cubicBez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3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3"/>
          <p:cNvSpPr/>
          <p:nvPr/>
        </p:nvSpPr>
        <p:spPr>
          <a:xfrm>
            <a:off x="1" y="0"/>
            <a:ext cx="4043511" cy="2585208"/>
          </a:xfrm>
          <a:custGeom>
            <a:rect b="b" l="l" r="r" t="t"/>
            <a:pathLst>
              <a:path extrusionOk="0" h="2585208" w="4043511">
                <a:moveTo>
                  <a:pt x="0" y="0"/>
                </a:moveTo>
                <a:lnTo>
                  <a:pt x="4037771" y="0"/>
                </a:lnTo>
                <a:lnTo>
                  <a:pt x="4043511" y="113678"/>
                </a:lnTo>
                <a:cubicBezTo>
                  <a:pt x="4043511" y="1478666"/>
                  <a:pt x="2936969" y="2585208"/>
                  <a:pt x="1571981" y="2585208"/>
                </a:cubicBezTo>
                <a:cubicBezTo>
                  <a:pt x="1060111" y="2585208"/>
                  <a:pt x="584584" y="2429601"/>
                  <a:pt x="190125" y="2163110"/>
                </a:cubicBezTo>
                <a:lnTo>
                  <a:pt x="0" y="2020937"/>
                </a:ln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3"/>
          <p:cNvSpPr/>
          <p:nvPr/>
        </p:nvSpPr>
        <p:spPr>
          <a:xfrm>
            <a:off x="11482486" y="4753172"/>
            <a:ext cx="709513" cy="1419029"/>
          </a:xfrm>
          <a:custGeom>
            <a:rect b="b" l="l" r="r" t="t"/>
            <a:pathLst>
              <a:path extrusionOk="0" h="1419029" w="709513">
                <a:moveTo>
                  <a:pt x="709513" y="0"/>
                </a:moveTo>
                <a:lnTo>
                  <a:pt x="709513" y="1419029"/>
                </a:lnTo>
                <a:lnTo>
                  <a:pt x="566522" y="1404614"/>
                </a:lnTo>
                <a:cubicBezTo>
                  <a:pt x="243208" y="1338455"/>
                  <a:pt x="0" y="1052387"/>
                  <a:pt x="0" y="709515"/>
                </a:cubicBezTo>
                <a:cubicBezTo>
                  <a:pt x="0" y="366643"/>
                  <a:pt x="243208" y="80575"/>
                  <a:pt x="566522" y="14415"/>
                </a:cubicBez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43"/>
          <p:cNvSpPr txBox="1"/>
          <p:nvPr/>
        </p:nvSpPr>
        <p:spPr>
          <a:xfrm>
            <a:off x="1661700" y="2628652"/>
            <a:ext cx="8868600" cy="14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Session </a:t>
            </a:r>
            <a:r>
              <a:rPr b="1" lang="en-US" sz="4400">
                <a:solidFill>
                  <a:srgbClr val="171717"/>
                </a:solidFill>
              </a:rPr>
              <a:t>4</a:t>
            </a:r>
            <a:r>
              <a:rPr b="1" lang="en-US" sz="4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Playbook Variables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4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4"/>
          <p:cNvSpPr txBox="1"/>
          <p:nvPr/>
        </p:nvSpPr>
        <p:spPr>
          <a:xfrm>
            <a:off x="581891" y="1540815"/>
            <a:ext cx="10984675" cy="3917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 store values for use in Playbooks. They are referenced using double curly braces. They make playbooks dynamic, avoid hardcoding values and enable multi-environment automation. Variables can be defined in: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Inventory files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host_vars / group_vars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Command line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External files</a:t>
            </a:r>
            <a:endParaRPr/>
          </a:p>
        </p:txBody>
      </p:sp>
      <p:sp>
        <p:nvSpPr>
          <p:cNvPr id="419" name="Google Shape;419;p44"/>
          <p:cNvSpPr txBox="1"/>
          <p:nvPr/>
        </p:nvSpPr>
        <p:spPr>
          <a:xfrm>
            <a:off x="581903" y="771375"/>
            <a:ext cx="5376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 to Variables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5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45"/>
          <p:cNvSpPr txBox="1"/>
          <p:nvPr/>
        </p:nvSpPr>
        <p:spPr>
          <a:xfrm>
            <a:off x="581891" y="1540815"/>
            <a:ext cx="10984675" cy="5930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can be used as following:</a:t>
            </a:r>
            <a:endParaRPr/>
          </a:p>
        </p:txBody>
      </p:sp>
      <p:sp>
        <p:nvSpPr>
          <p:cNvPr id="426" name="Google Shape;426;p45"/>
          <p:cNvSpPr txBox="1"/>
          <p:nvPr/>
        </p:nvSpPr>
        <p:spPr>
          <a:xfrm>
            <a:off x="581906" y="771375"/>
            <a:ext cx="6559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 to Variables</a:t>
            </a:r>
            <a:endParaRPr/>
          </a:p>
        </p:txBody>
      </p:sp>
      <p:graphicFrame>
        <p:nvGraphicFramePr>
          <p:cNvPr id="427" name="Google Shape;427;p45"/>
          <p:cNvGraphicFramePr/>
          <p:nvPr/>
        </p:nvGraphicFramePr>
        <p:xfrm>
          <a:off x="581890" y="27474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{669AF533-5414-4BF9-8686-32D7A405D79A}</a:tableStyleId>
              </a:tblPr>
              <a:tblGrid>
                <a:gridCol w="6559150"/>
                <a:gridCol w="4425525"/>
              </a:tblGrid>
              <a:tr h="1534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name: Deploy app config</a:t>
                      </a:r>
                      <a:b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 template:</a:t>
                      </a:r>
                      <a:b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     src: app.conf.j2</a:t>
                      </a:r>
                      <a:b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     dest: /etc/myapp/config.conf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 = {{ app_port }}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 = {{ app_name }}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deploy.yml</a:t>
                      </a:r>
                      <a:endParaRPr sz="20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app.conf.j2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6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6"/>
          <p:cNvSpPr txBox="1"/>
          <p:nvPr/>
        </p:nvSpPr>
        <p:spPr>
          <a:xfrm>
            <a:off x="581891" y="1540815"/>
            <a:ext cx="10984675" cy="5025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group_vars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Defined for a group of hosts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Stored in group_vars/&lt;groupname&gt;.yml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Applies to all hosts in the group unless overridden by host vars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host_vars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Defined for a single host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Stored in host_vars/&lt;hostname&gt;.yml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Overrides group variables for that host</a:t>
            </a:r>
            <a:endParaRPr/>
          </a:p>
        </p:txBody>
      </p:sp>
      <p:sp>
        <p:nvSpPr>
          <p:cNvPr id="434" name="Google Shape;434;p46"/>
          <p:cNvSpPr txBox="1"/>
          <p:nvPr/>
        </p:nvSpPr>
        <p:spPr>
          <a:xfrm>
            <a:off x="581904" y="771375"/>
            <a:ext cx="7754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Host &amp; Group Variables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7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7"/>
          <p:cNvSpPr txBox="1"/>
          <p:nvPr/>
        </p:nvSpPr>
        <p:spPr>
          <a:xfrm>
            <a:off x="581902" y="771375"/>
            <a:ext cx="6405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Host &amp; Group Variables</a:t>
            </a:r>
            <a:endParaRPr/>
          </a:p>
        </p:txBody>
      </p:sp>
      <p:sp>
        <p:nvSpPr>
          <p:cNvPr id="441" name="Google Shape;441;p47"/>
          <p:cNvSpPr txBox="1"/>
          <p:nvPr/>
        </p:nvSpPr>
        <p:spPr>
          <a:xfrm>
            <a:off x="581891" y="1479260"/>
            <a:ext cx="4352966" cy="5029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Inventory List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[web]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web1 ansible_host=192.168.1.10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web2 ansible_host=192.168.1.11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group_vars/web.yml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app_port: 8080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app_name: demoapp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host_vars/web1.yml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app_port: 8081</a:t>
            </a:r>
            <a:endParaRPr/>
          </a:p>
        </p:txBody>
      </p:sp>
      <p:sp>
        <p:nvSpPr>
          <p:cNvPr id="442" name="Google Shape;442;p47"/>
          <p:cNvSpPr txBox="1"/>
          <p:nvPr/>
        </p:nvSpPr>
        <p:spPr>
          <a:xfrm>
            <a:off x="6096000" y="1479260"/>
            <a:ext cx="5915009" cy="4897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Playbook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hosts: web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gather_facts: false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tasks: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- debug: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msg: "Deploying {{ app_name }} on port {{ app_port }}"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web1: port 8081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web2: port 8080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8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8"/>
          <p:cNvSpPr/>
          <p:nvPr/>
        </p:nvSpPr>
        <p:spPr>
          <a:xfrm>
            <a:off x="1" y="0"/>
            <a:ext cx="4043511" cy="2585208"/>
          </a:xfrm>
          <a:custGeom>
            <a:rect b="b" l="l" r="r" t="t"/>
            <a:pathLst>
              <a:path extrusionOk="0" h="2585208" w="4043511">
                <a:moveTo>
                  <a:pt x="0" y="0"/>
                </a:moveTo>
                <a:lnTo>
                  <a:pt x="4037771" y="0"/>
                </a:lnTo>
                <a:lnTo>
                  <a:pt x="4043511" y="113678"/>
                </a:lnTo>
                <a:cubicBezTo>
                  <a:pt x="4043511" y="1478666"/>
                  <a:pt x="2936969" y="2585208"/>
                  <a:pt x="1571981" y="2585208"/>
                </a:cubicBezTo>
                <a:cubicBezTo>
                  <a:pt x="1060111" y="2585208"/>
                  <a:pt x="584584" y="2429601"/>
                  <a:pt x="190125" y="2163110"/>
                </a:cubicBezTo>
                <a:lnTo>
                  <a:pt x="0" y="2020937"/>
                </a:ln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8"/>
          <p:cNvSpPr/>
          <p:nvPr/>
        </p:nvSpPr>
        <p:spPr>
          <a:xfrm>
            <a:off x="11482486" y="4753172"/>
            <a:ext cx="709513" cy="1419029"/>
          </a:xfrm>
          <a:custGeom>
            <a:rect b="b" l="l" r="r" t="t"/>
            <a:pathLst>
              <a:path extrusionOk="0" h="1419029" w="709513">
                <a:moveTo>
                  <a:pt x="709513" y="0"/>
                </a:moveTo>
                <a:lnTo>
                  <a:pt x="709513" y="1419029"/>
                </a:lnTo>
                <a:lnTo>
                  <a:pt x="566522" y="1404614"/>
                </a:lnTo>
                <a:cubicBezTo>
                  <a:pt x="243208" y="1338455"/>
                  <a:pt x="0" y="1052387"/>
                  <a:pt x="0" y="709515"/>
                </a:cubicBezTo>
                <a:cubicBezTo>
                  <a:pt x="0" y="366643"/>
                  <a:pt x="243208" y="80575"/>
                  <a:pt x="566522" y="14415"/>
                </a:cubicBez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8"/>
          <p:cNvSpPr txBox="1"/>
          <p:nvPr/>
        </p:nvSpPr>
        <p:spPr>
          <a:xfrm>
            <a:off x="1661700" y="2628652"/>
            <a:ext cx="8868600" cy="14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Session </a:t>
            </a:r>
            <a:r>
              <a:rPr b="1" lang="en-US" sz="4400">
                <a:solidFill>
                  <a:srgbClr val="171717"/>
                </a:solidFill>
              </a:rPr>
              <a:t>5</a:t>
            </a:r>
            <a:r>
              <a:rPr b="1" lang="en-US" sz="4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Scaling Automation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9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9"/>
          <p:cNvSpPr txBox="1"/>
          <p:nvPr/>
        </p:nvSpPr>
        <p:spPr>
          <a:xfrm>
            <a:off x="581891" y="1540815"/>
            <a:ext cx="10984675" cy="4471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it is possible to write a playbook in one, eventually it is better to reuse files and start to organize things.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playbooks become hard to read and maintain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Repeated tasks across multiple projects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organize automation for teams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Roles and Collections to structure, reuse, and share automation.</a:t>
            </a:r>
            <a:endParaRPr/>
          </a:p>
        </p:txBody>
      </p:sp>
      <p:sp>
        <p:nvSpPr>
          <p:cNvPr id="457" name="Google Shape;457;p49"/>
          <p:cNvSpPr txBox="1"/>
          <p:nvPr/>
        </p:nvSpPr>
        <p:spPr>
          <a:xfrm>
            <a:off x="581902" y="771375"/>
            <a:ext cx="6794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Scale Automation?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0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50"/>
          <p:cNvSpPr txBox="1"/>
          <p:nvPr/>
        </p:nvSpPr>
        <p:spPr>
          <a:xfrm>
            <a:off x="581891" y="1540815"/>
            <a:ext cx="6892965" cy="5025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Roles are a way to organize tasks, variables, templates, files, and handlers into reusable components.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follows a defined directory structure; a role is named by the top level directory. Some of the subdirectories contain YAML files, named main.yml. The files and templates subdirectories can contain objects referenced by the YAML files.</a:t>
            </a:r>
            <a:endParaRPr/>
          </a:p>
        </p:txBody>
      </p:sp>
      <p:sp>
        <p:nvSpPr>
          <p:cNvPr id="464" name="Google Shape;464;p50"/>
          <p:cNvSpPr txBox="1"/>
          <p:nvPr/>
        </p:nvSpPr>
        <p:spPr>
          <a:xfrm>
            <a:off x="581903" y="771375"/>
            <a:ext cx="1933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Roles</a:t>
            </a:r>
            <a:endParaRPr/>
          </a:p>
        </p:txBody>
      </p:sp>
      <p:sp>
        <p:nvSpPr>
          <p:cNvPr id="465" name="Google Shape;465;p50"/>
          <p:cNvSpPr txBox="1"/>
          <p:nvPr/>
        </p:nvSpPr>
        <p:spPr>
          <a:xfrm>
            <a:off x="7620000" y="1125317"/>
            <a:ext cx="4267200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└── apache_vhost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├── defaults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│   └── main.yml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├── files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├── handlers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│   └── main.yml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├── meta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│   └── main.yml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├── README.md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├── tasks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│   └── main.yml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├── templates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├── tests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│   ├── inventory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│   └── test.yml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└── vars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└── main.yml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1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51"/>
          <p:cNvSpPr txBox="1"/>
          <p:nvPr/>
        </p:nvSpPr>
        <p:spPr>
          <a:xfrm>
            <a:off x="581891" y="1540815"/>
            <a:ext cx="6892965" cy="5025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various main.yml files contain content depending on their location in the structure. Note that the main.yml files only contain the specific content and no additional playbook information.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Default variables have the lowest precedence and usually contain default values. Variables can be set in either vars/main.yml or defaults/main.yml, but not in both places.</a:t>
            </a:r>
            <a:endParaRPr/>
          </a:p>
        </p:txBody>
      </p:sp>
      <p:sp>
        <p:nvSpPr>
          <p:cNvPr id="472" name="Google Shape;472;p51"/>
          <p:cNvSpPr txBox="1"/>
          <p:nvPr/>
        </p:nvSpPr>
        <p:spPr>
          <a:xfrm>
            <a:off x="581905" y="771375"/>
            <a:ext cx="2262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Roles</a:t>
            </a:r>
            <a:endParaRPr/>
          </a:p>
        </p:txBody>
      </p:sp>
      <p:sp>
        <p:nvSpPr>
          <p:cNvPr id="473" name="Google Shape;473;p51"/>
          <p:cNvSpPr txBox="1"/>
          <p:nvPr/>
        </p:nvSpPr>
        <p:spPr>
          <a:xfrm>
            <a:off x="7620000" y="1125317"/>
            <a:ext cx="4267200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└── apache_vhost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├──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defaults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│   └── main.yml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├── files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├── handlers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│   └── main.yml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├── meta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│   └── main.yml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├── README.md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├── tasks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│   └── main.yml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├── templates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├── tests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│   ├── inventory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│   └── test.yml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└──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└── main.yml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2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52"/>
          <p:cNvSpPr txBox="1"/>
          <p:nvPr/>
        </p:nvSpPr>
        <p:spPr>
          <a:xfrm>
            <a:off x="581891" y="1540815"/>
            <a:ext cx="10984675" cy="4562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use roles in playbooks can automatically loads tasks, handlers, templates, variables, and defaults from the role, which keeps playbooks clean and concise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hosts: web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become: true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roles: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- webserver</a:t>
            </a:r>
            <a:endParaRPr/>
          </a:p>
        </p:txBody>
      </p:sp>
      <p:sp>
        <p:nvSpPr>
          <p:cNvPr id="480" name="Google Shape;480;p52"/>
          <p:cNvSpPr txBox="1"/>
          <p:nvPr/>
        </p:nvSpPr>
        <p:spPr>
          <a:xfrm>
            <a:off x="581902" y="771375"/>
            <a:ext cx="697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Roles in Playbooks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3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53"/>
          <p:cNvSpPr txBox="1"/>
          <p:nvPr/>
        </p:nvSpPr>
        <p:spPr>
          <a:xfrm>
            <a:off x="581891" y="1540815"/>
            <a:ext cx="10984675" cy="3917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Collections are packaged Ansible content including roles, modules, plugins, and playbooks that can be shared or installed from Ansible Galaxy.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allows: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Sharing automation across teams and projects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Including community or vendor-provided content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Managing multiple related automation artifacts together</a:t>
            </a:r>
            <a:endParaRPr/>
          </a:p>
        </p:txBody>
      </p:sp>
      <p:sp>
        <p:nvSpPr>
          <p:cNvPr id="487" name="Google Shape;487;p53"/>
          <p:cNvSpPr txBox="1"/>
          <p:nvPr/>
        </p:nvSpPr>
        <p:spPr>
          <a:xfrm>
            <a:off x="581905" y="771375"/>
            <a:ext cx="7321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Collection?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4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54"/>
          <p:cNvSpPr txBox="1"/>
          <p:nvPr/>
        </p:nvSpPr>
        <p:spPr>
          <a:xfrm>
            <a:off x="581891" y="1540815"/>
            <a:ext cx="10984675" cy="3178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build a role, we can use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mkdir roles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ansible-galaxy init --offline roles/apache_vhost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we can look at the structure using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tree roles</a:t>
            </a:r>
            <a:endParaRPr/>
          </a:p>
        </p:txBody>
      </p:sp>
      <p:sp>
        <p:nvSpPr>
          <p:cNvPr id="494" name="Google Shape;494;p54"/>
          <p:cNvSpPr txBox="1"/>
          <p:nvPr/>
        </p:nvSpPr>
        <p:spPr>
          <a:xfrm>
            <a:off x="581902" y="771375"/>
            <a:ext cx="9699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a Role Directory Structure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5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AI-generated content may be incorrect." id="500" name="Google Shape;500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0049" y="563335"/>
            <a:ext cx="9231901" cy="5731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6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56"/>
          <p:cNvSpPr/>
          <p:nvPr/>
        </p:nvSpPr>
        <p:spPr>
          <a:xfrm>
            <a:off x="1" y="0"/>
            <a:ext cx="4043511" cy="2585208"/>
          </a:xfrm>
          <a:custGeom>
            <a:rect b="b" l="l" r="r" t="t"/>
            <a:pathLst>
              <a:path extrusionOk="0" h="2585208" w="4043511">
                <a:moveTo>
                  <a:pt x="0" y="0"/>
                </a:moveTo>
                <a:lnTo>
                  <a:pt x="4037771" y="0"/>
                </a:lnTo>
                <a:lnTo>
                  <a:pt x="4043511" y="113678"/>
                </a:lnTo>
                <a:cubicBezTo>
                  <a:pt x="4043511" y="1478666"/>
                  <a:pt x="2936969" y="2585208"/>
                  <a:pt x="1571981" y="2585208"/>
                </a:cubicBezTo>
                <a:cubicBezTo>
                  <a:pt x="1060111" y="2585208"/>
                  <a:pt x="584584" y="2429601"/>
                  <a:pt x="190125" y="2163110"/>
                </a:cubicBezTo>
                <a:lnTo>
                  <a:pt x="0" y="2020937"/>
                </a:ln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56"/>
          <p:cNvSpPr/>
          <p:nvPr/>
        </p:nvSpPr>
        <p:spPr>
          <a:xfrm>
            <a:off x="11482486" y="4753172"/>
            <a:ext cx="709513" cy="1419029"/>
          </a:xfrm>
          <a:custGeom>
            <a:rect b="b" l="l" r="r" t="t"/>
            <a:pathLst>
              <a:path extrusionOk="0" h="1419029" w="709513">
                <a:moveTo>
                  <a:pt x="709513" y="0"/>
                </a:moveTo>
                <a:lnTo>
                  <a:pt x="709513" y="1419029"/>
                </a:lnTo>
                <a:lnTo>
                  <a:pt x="566522" y="1404614"/>
                </a:lnTo>
                <a:cubicBezTo>
                  <a:pt x="243208" y="1338455"/>
                  <a:pt x="0" y="1052387"/>
                  <a:pt x="0" y="709515"/>
                </a:cubicBezTo>
                <a:cubicBezTo>
                  <a:pt x="0" y="366643"/>
                  <a:pt x="243208" y="80575"/>
                  <a:pt x="566522" y="14415"/>
                </a:cubicBez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56"/>
          <p:cNvSpPr txBox="1"/>
          <p:nvPr/>
        </p:nvSpPr>
        <p:spPr>
          <a:xfrm>
            <a:off x="1661700" y="2628652"/>
            <a:ext cx="8868600" cy="14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Session </a:t>
            </a:r>
            <a:r>
              <a:rPr b="1" lang="en-US" sz="4400">
                <a:solidFill>
                  <a:srgbClr val="171717"/>
                </a:solidFill>
              </a:rPr>
              <a:t>6</a:t>
            </a:r>
            <a:r>
              <a:rPr b="1" lang="en-US" sz="4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Debugging &amp; Performance Tuning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7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57"/>
          <p:cNvSpPr txBox="1"/>
          <p:nvPr/>
        </p:nvSpPr>
        <p:spPr>
          <a:xfrm>
            <a:off x="603662" y="1193484"/>
            <a:ext cx="10984675" cy="4471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playbooks or roles may fail silently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Automation may be slow or inefficient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Early detection of errors saves time in production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Goals: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Quickly identify and fix errors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Optimize playbook execution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 reliable automation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8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58"/>
          <p:cNvSpPr txBox="1"/>
          <p:nvPr/>
        </p:nvSpPr>
        <p:spPr>
          <a:xfrm>
            <a:off x="581891" y="1540815"/>
            <a:ext cx="10984675" cy="3501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debug Module: prints variables or messages</a:t>
            </a:r>
            <a:endParaRPr/>
          </a:p>
          <a:p>
            <a:pPr indent="0" lvl="0" marL="34607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name: Show variable value</a:t>
            </a:r>
            <a:endParaRPr/>
          </a:p>
          <a:p>
            <a:pPr indent="0" lvl="0" marL="34607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debug:</a:t>
            </a:r>
            <a:endParaRPr/>
          </a:p>
          <a:p>
            <a:pPr indent="0" lvl="0" marL="34607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var: my_variable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0003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ansible-playbook --check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shows what would change without actually modifying hosts</a:t>
            </a:r>
            <a:endParaRPr/>
          </a:p>
          <a:p>
            <a:pPr indent="-133350" lvl="0" marL="30003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58"/>
          <p:cNvSpPr txBox="1"/>
          <p:nvPr/>
        </p:nvSpPr>
        <p:spPr>
          <a:xfrm>
            <a:off x="581904" y="771375"/>
            <a:ext cx="7408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Debugging Techniques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9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59"/>
          <p:cNvSpPr txBox="1"/>
          <p:nvPr/>
        </p:nvSpPr>
        <p:spPr>
          <a:xfrm>
            <a:off x="581891" y="1540815"/>
            <a:ext cx="10984675" cy="5625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30003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block/rescue/always</a:t>
            </a:r>
            <a:endParaRPr/>
          </a:p>
          <a:p>
            <a:pPr indent="0" lvl="0" marL="4032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tasks:</a:t>
            </a:r>
            <a:endParaRPr/>
          </a:p>
          <a:p>
            <a:pPr indent="0" lvl="0" marL="4032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 block:</a:t>
            </a:r>
            <a:endParaRPr/>
          </a:p>
          <a:p>
            <a:pPr indent="0" lvl="0" marL="4032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- name: Deploy backend</a:t>
            </a:r>
            <a:endParaRPr/>
          </a:p>
          <a:p>
            <a:pPr indent="0" lvl="0" marL="4032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command: /opt/deploy.sh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032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rescue:</a:t>
            </a:r>
            <a:endParaRPr/>
          </a:p>
          <a:p>
            <a:pPr indent="0" lvl="0" marL="4032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- name: Rollback backend</a:t>
            </a:r>
            <a:endParaRPr/>
          </a:p>
          <a:p>
            <a:pPr indent="0" lvl="0" marL="4032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command: /opt/rollback.sh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032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always:</a:t>
            </a:r>
            <a:endParaRPr/>
          </a:p>
          <a:p>
            <a:pPr indent="0" lvl="0" marL="4032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- name: Cleanup temp files</a:t>
            </a:r>
            <a:endParaRPr/>
          </a:p>
          <a:p>
            <a:pPr indent="0" lvl="0" marL="4032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file:</a:t>
            </a:r>
            <a:endParaRPr/>
          </a:p>
          <a:p>
            <a:pPr indent="0" lvl="0" marL="4032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path: /tmp/tmpfile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032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state: absent</a:t>
            </a:r>
            <a:endParaRPr/>
          </a:p>
          <a:p>
            <a:pPr indent="-133350" lvl="0" marL="30003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59"/>
          <p:cNvSpPr txBox="1"/>
          <p:nvPr/>
        </p:nvSpPr>
        <p:spPr>
          <a:xfrm>
            <a:off x="581904" y="771375"/>
            <a:ext cx="7174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Debugging Techniques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0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60"/>
          <p:cNvSpPr txBox="1"/>
          <p:nvPr/>
        </p:nvSpPr>
        <p:spPr>
          <a:xfrm>
            <a:off x="581891" y="1540815"/>
            <a:ext cx="10984675" cy="4008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30003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hosts with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–limit</a:t>
            </a:r>
            <a:endParaRPr/>
          </a:p>
          <a:p>
            <a:pPr indent="0" lvl="0" marL="28733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ansible-playbook site.yml --limit web1</a:t>
            </a:r>
            <a:endParaRPr/>
          </a:p>
          <a:p>
            <a:pPr indent="0" lvl="0" marL="1428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5718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fact caching to avoid repeated gather_facts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032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[defaults]</a:t>
            </a:r>
            <a:endParaRPr/>
          </a:p>
          <a:p>
            <a:pPr indent="0" lvl="0" marL="4032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gathering = smart</a:t>
            </a:r>
            <a:endParaRPr/>
          </a:p>
          <a:p>
            <a:pPr indent="0" lvl="0" marL="4032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fact_caching = jsonfile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032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fact_caching_connection = /tmp/facts</a:t>
            </a:r>
            <a:endParaRPr/>
          </a:p>
        </p:txBody>
      </p:sp>
      <p:sp>
        <p:nvSpPr>
          <p:cNvPr id="535" name="Google Shape;535;p60"/>
          <p:cNvSpPr txBox="1"/>
          <p:nvPr/>
        </p:nvSpPr>
        <p:spPr>
          <a:xfrm>
            <a:off x="581905" y="771375"/>
            <a:ext cx="7122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Performance Tuning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1"/>
          <p:cNvSpPr txBox="1"/>
          <p:nvPr/>
        </p:nvSpPr>
        <p:spPr>
          <a:xfrm>
            <a:off x="1661700" y="3028826"/>
            <a:ext cx="88686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Exercise #4 – Ansible Playbook</a:t>
            </a:r>
            <a:endParaRPr/>
          </a:p>
        </p:txBody>
      </p:sp>
      <p:sp>
        <p:nvSpPr>
          <p:cNvPr id="541" name="Google Shape;541;p61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61"/>
          <p:cNvSpPr/>
          <p:nvPr/>
        </p:nvSpPr>
        <p:spPr>
          <a:xfrm>
            <a:off x="1" y="0"/>
            <a:ext cx="4043511" cy="2585208"/>
          </a:xfrm>
          <a:custGeom>
            <a:rect b="b" l="l" r="r" t="t"/>
            <a:pathLst>
              <a:path extrusionOk="0" h="2585208" w="4043511">
                <a:moveTo>
                  <a:pt x="0" y="0"/>
                </a:moveTo>
                <a:lnTo>
                  <a:pt x="4037771" y="0"/>
                </a:lnTo>
                <a:lnTo>
                  <a:pt x="4043511" y="113678"/>
                </a:lnTo>
                <a:cubicBezTo>
                  <a:pt x="4043511" y="1478666"/>
                  <a:pt x="2936969" y="2585208"/>
                  <a:pt x="1571981" y="2585208"/>
                </a:cubicBezTo>
                <a:cubicBezTo>
                  <a:pt x="1060111" y="2585208"/>
                  <a:pt x="584584" y="2429601"/>
                  <a:pt x="190125" y="2163110"/>
                </a:cubicBezTo>
                <a:lnTo>
                  <a:pt x="0" y="2020937"/>
                </a:ln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61"/>
          <p:cNvSpPr/>
          <p:nvPr/>
        </p:nvSpPr>
        <p:spPr>
          <a:xfrm>
            <a:off x="11482486" y="4753172"/>
            <a:ext cx="709513" cy="1419029"/>
          </a:xfrm>
          <a:custGeom>
            <a:rect b="b" l="l" r="r" t="t"/>
            <a:pathLst>
              <a:path extrusionOk="0" h="1419029" w="709513">
                <a:moveTo>
                  <a:pt x="709513" y="0"/>
                </a:moveTo>
                <a:lnTo>
                  <a:pt x="709513" y="1419029"/>
                </a:lnTo>
                <a:lnTo>
                  <a:pt x="566522" y="1404614"/>
                </a:lnTo>
                <a:cubicBezTo>
                  <a:pt x="243208" y="1338455"/>
                  <a:pt x="0" y="1052387"/>
                  <a:pt x="0" y="709515"/>
                </a:cubicBezTo>
                <a:cubicBezTo>
                  <a:pt x="0" y="366643"/>
                  <a:pt x="243208" y="80575"/>
                  <a:pt x="566522" y="14415"/>
                </a:cubicBez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2"/>
          <p:cNvSpPr txBox="1"/>
          <p:nvPr/>
        </p:nvSpPr>
        <p:spPr>
          <a:xfrm>
            <a:off x="1661700" y="3028826"/>
            <a:ext cx="88686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Exercise #5 – Advanced Ansible</a:t>
            </a:r>
            <a:endParaRPr/>
          </a:p>
        </p:txBody>
      </p:sp>
      <p:sp>
        <p:nvSpPr>
          <p:cNvPr id="549" name="Google Shape;549;p62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62"/>
          <p:cNvSpPr/>
          <p:nvPr/>
        </p:nvSpPr>
        <p:spPr>
          <a:xfrm>
            <a:off x="1" y="0"/>
            <a:ext cx="4043511" cy="2585208"/>
          </a:xfrm>
          <a:custGeom>
            <a:rect b="b" l="l" r="r" t="t"/>
            <a:pathLst>
              <a:path extrusionOk="0" h="2585208" w="4043511">
                <a:moveTo>
                  <a:pt x="0" y="0"/>
                </a:moveTo>
                <a:lnTo>
                  <a:pt x="4037771" y="0"/>
                </a:lnTo>
                <a:lnTo>
                  <a:pt x="4043511" y="113678"/>
                </a:lnTo>
                <a:cubicBezTo>
                  <a:pt x="4043511" y="1478666"/>
                  <a:pt x="2936969" y="2585208"/>
                  <a:pt x="1571981" y="2585208"/>
                </a:cubicBezTo>
                <a:cubicBezTo>
                  <a:pt x="1060111" y="2585208"/>
                  <a:pt x="584584" y="2429601"/>
                  <a:pt x="190125" y="2163110"/>
                </a:cubicBezTo>
                <a:lnTo>
                  <a:pt x="0" y="2020937"/>
                </a:ln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62"/>
          <p:cNvSpPr/>
          <p:nvPr/>
        </p:nvSpPr>
        <p:spPr>
          <a:xfrm>
            <a:off x="11482486" y="4753172"/>
            <a:ext cx="709513" cy="1419029"/>
          </a:xfrm>
          <a:custGeom>
            <a:rect b="b" l="l" r="r" t="t"/>
            <a:pathLst>
              <a:path extrusionOk="0" h="1419029" w="709513">
                <a:moveTo>
                  <a:pt x="709513" y="0"/>
                </a:moveTo>
                <a:lnTo>
                  <a:pt x="709513" y="1419029"/>
                </a:lnTo>
                <a:lnTo>
                  <a:pt x="566522" y="1404614"/>
                </a:lnTo>
                <a:cubicBezTo>
                  <a:pt x="243208" y="1338455"/>
                  <a:pt x="0" y="1052387"/>
                  <a:pt x="0" y="709515"/>
                </a:cubicBezTo>
                <a:cubicBezTo>
                  <a:pt x="0" y="366643"/>
                  <a:pt x="243208" y="80575"/>
                  <a:pt x="566522" y="14415"/>
                </a:cubicBezTo>
                <a:close/>
              </a:path>
            </a:pathLst>
          </a:custGeom>
          <a:solidFill>
            <a:srgbClr val="FCAF03"/>
          </a:solid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3"/>
          <p:cNvSpPr/>
          <p:nvPr/>
        </p:nvSpPr>
        <p:spPr>
          <a:xfrm>
            <a:off x="11001390" y="168955"/>
            <a:ext cx="1009620" cy="302355"/>
          </a:xfrm>
          <a:custGeom>
            <a:rect b="b" l="l" r="r" t="t"/>
            <a:pathLst>
              <a:path extrusionOk="0" h="453533" w="1514430">
                <a:moveTo>
                  <a:pt x="0" y="0"/>
                </a:moveTo>
                <a:lnTo>
                  <a:pt x="1514430" y="0"/>
                </a:lnTo>
                <a:lnTo>
                  <a:pt x="1514430" y="453533"/>
                </a:lnTo>
                <a:lnTo>
                  <a:pt x="0" y="453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63"/>
          <p:cNvSpPr txBox="1"/>
          <p:nvPr/>
        </p:nvSpPr>
        <p:spPr>
          <a:xfrm>
            <a:off x="1359526" y="2712521"/>
            <a:ext cx="9472947" cy="143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0"/>
              <a:buFont typeface="Arial"/>
              <a:buNone/>
            </a:pPr>
            <a:r>
              <a:rPr lang="en-US" sz="440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Evaluation t</a:t>
            </a:r>
            <a:r>
              <a:rPr lang="en-US" sz="4400">
                <a:solidFill>
                  <a:srgbClr val="073763"/>
                </a:solidFill>
              </a:rPr>
              <a:t>ime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0"/>
              <a:buFont typeface="Arial"/>
              <a:buNone/>
            </a:pPr>
            <a:r>
              <a:rPr lang="en-US" sz="440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2026-03-02T14:26:42Z</dcterms:created>
  <dc:creator>CHAN, Ryan Ka Yam</dc:creator>
</cp:coreProperties>
</file>